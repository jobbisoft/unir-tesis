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webextensions/webextension2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18"/>
  </p:notesMasterIdLst>
  <p:sldIdLst>
    <p:sldId id="277" r:id="rId3"/>
    <p:sldId id="260" r:id="rId4"/>
    <p:sldId id="271" r:id="rId5"/>
    <p:sldId id="274" r:id="rId6"/>
    <p:sldId id="259" r:id="rId7"/>
    <p:sldId id="261" r:id="rId8"/>
    <p:sldId id="270" r:id="rId9"/>
    <p:sldId id="272" r:id="rId10"/>
    <p:sldId id="273" r:id="rId11"/>
    <p:sldId id="276" r:id="rId12"/>
    <p:sldId id="256" r:id="rId13"/>
    <p:sldId id="257" r:id="rId14"/>
    <p:sldId id="275" r:id="rId15"/>
    <p:sldId id="278" r:id="rId16"/>
    <p:sldId id="279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EEFFAD-11DF-9D3B-4479-4F7AD6ED4CC9}" v="9" dt="2025-09-27T14:54:43.283"/>
    <p1510:client id="{2D6BA15E-C52A-75FF-7F6A-F3518AA1D778}" v="318" dt="2025-09-27T15:03:08.175"/>
    <p1510:client id="{68D69A7A-B1E0-0326-C1FE-3E24D707BA53}" v="24" dt="2025-09-27T14:57:34.977"/>
    <p1510:client id="{7F6C7937-BEE0-499E-47D0-99C844892B23}" v="123" dt="2025-09-28T02:23:42.067"/>
    <p1510:client id="{9EF04726-C8AF-DE1F-EA59-806F05AAF038}" v="42" dt="2025-09-28T02:26:59.023"/>
    <p1510:client id="{F72F9057-5F08-BF8F-AFC7-150FDDACB36A}" v="20" dt="2025-09-28T02:51:07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BDFF3-D27F-4316-946B-95A20DE865D4}" type="datetimeFigureOut"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5A7E8-5322-45E2-8A88-108C76902A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1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545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240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EBE2-E80F-F211-6AC1-7CB43DEA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C57CB7-4720-E7A8-0132-311ACA8B0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423963-C7DB-1FF0-9505-63E616878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5C7E4A-6AF7-51A2-C2DE-9D9005446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806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9452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5FB6-1C9F-3674-3AAA-1AE55175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8E074C-A4C4-36A5-08CD-133A07301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12A6D1-F408-EBC7-FC8F-91493243B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7FBBF2-87AA-F392-B800-3C27DDB6C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86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4F64-17D9-51DB-C07C-62C801B1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C3367F9-9D0D-24C9-1E67-EF846E3F4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F94873-BD2C-E6F5-C60B-E8DD12D2F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43638A-B1EB-DA76-D7EB-4B05C99EF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6AEB063-7F11-4E3B-BA52-07405B1C2D9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9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D03A-26F8-E7D6-B562-DD95750AA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33BC0-F680-D249-63AB-0261DB3FA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8F24F-DCA4-1B46-A446-D2B61492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535AD-1C8E-B250-D764-322F5E25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AFFB-3F89-5AFE-CB9C-4DB80F0D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650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EAC6-03F8-A38E-002F-669E788B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54BC4-FC61-1E24-46FE-0DEAA42BA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7E0EC-D654-4AD4-4220-D833B82A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B738A-E061-5F97-171D-CD07372F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A1BF5-FB5B-152B-5A9F-B1F318184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127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ED71-32E2-B1C9-2547-DB991388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CC103-72F7-CF73-0349-B52A857B8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187D7-E017-47C4-56E8-E365D71FB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559EF-F75E-B085-EF56-7CB9F9A9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52393-9383-F0FA-7D10-028FA385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4533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B0E17-722A-CC5E-0056-69B0C17EF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0BCC1-1B97-B356-0FD3-31F32C26D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49CD7-12D7-0AA7-3B9E-61DCCFAB5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ECE39-6C96-4391-9A62-EA3408F6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97004-D9A1-E792-B18B-2D7EB896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4948D-DD1B-FCA3-422D-5DC06094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8636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E934-80C1-1ED8-EE5D-77721A9ED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2AF69-EBF1-6613-95E3-D00BE73AF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6DA95-2B4E-667B-57D6-EBA3A9E2C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A677B-ABE1-C7F3-FF50-D356C8CEE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E39E83-D718-2251-CF08-612C0CF06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4FD703-8099-4FB3-63AB-A14C64686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AF093-FC21-5813-F39C-212CD330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A40A1-3F0C-E465-8DBA-90B7098E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307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7A3FC-861B-8B3D-93BB-038E1A6E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3CF4F7-CAED-0655-EE4B-CC98A9A98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AFBBA7-B2E5-E936-F681-23623ADF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DB8F9-0F47-2B29-502C-AE00C0AB8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1686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FD002-D315-3E4F-6A9E-2756096B2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B05E07-02E3-DEAD-D7EF-7CE8AC004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575C1-61C3-94AD-BF53-21CEED65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578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01D41-13A0-20A2-3D66-1939722DF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2570-D176-4F11-F43B-2CB484E27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3EEE5-707D-C0A3-2BCA-07F2CBBFA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4164D-D554-492D-CE4F-C31E02FF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65F73-41D9-D219-DC57-C2470DF8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A2A0B-F5EC-27B2-2420-D3BAD925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798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911C-C412-0311-60FD-F62F36198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B2913-41F5-931B-577A-51EC2897F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03B14-4E31-2855-C45A-49973388C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C3362-CABB-97BE-8E80-88C46F43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ABB3C-8A05-30C7-47F7-8A67F9F1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B7581-FE04-6E8E-4BEE-02DFE83E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535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E9306-2C08-9EED-8B27-1C0E8D5A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C30FE-ED0D-21C1-0AC9-A83B4DE96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CAF08-0DFC-7BC9-B863-EA792553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AF14B-65FD-FCA7-4C7F-2C063DF7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497D2-3492-CC67-062C-77B0DA2E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7207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984F1F-BA09-C52A-8931-89753F8AB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E8C31-46EA-0685-380F-92A51AEF5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FE80E-EE7E-47A7-996C-632F4D44E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DE387-2165-197F-335F-2DBE4C64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D0022-ED4C-D56B-6822-F1E84485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316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381388F-6D01-4763-9497-2C5F78AF5477}"/>
              </a:ext>
            </a:extLst>
          </p:cNvPr>
          <p:cNvSpPr/>
          <p:nvPr userDrawn="1"/>
        </p:nvSpPr>
        <p:spPr>
          <a:xfrm>
            <a:off x="0" y="4818185"/>
            <a:ext cx="12192000" cy="20398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Forma libre 6"/>
          <p:cNvSpPr/>
          <p:nvPr/>
        </p:nvSpPr>
        <p:spPr bwMode="ltGray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 rtlCol="0"/>
          <a:lstStyle>
            <a:lvl1pPr algn="ctr">
              <a:defRPr sz="54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810001" y="5280847"/>
            <a:ext cx="10572000" cy="434974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AEAB7B-E6F9-4422-A438-2E4071AEDF32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74326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7415" y="2222287"/>
            <a:ext cx="5194583" cy="3638764"/>
          </a:xfrm>
          <a:noFill/>
          <a:ln w="25400">
            <a:gradFill>
              <a:gsLst>
                <a:gs pos="50000">
                  <a:schemeClr val="bg2"/>
                </a:gs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2A4059F8-A688-4FFE-AA79-3B6D811FA98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222287"/>
            <a:ext cx="5181600" cy="3638764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3AB4A3-AE75-4D00-9BE1-AF3996C6B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D6D300-52EA-41C5-9D55-44B950D4BB30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9471F3C4-BAAF-4391-B574-8E340EDA3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FB8DD71F-FEC6-4AB5-974A-FD2B82A7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64910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contenido de secció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7"/>
          <p:cNvSpPr/>
          <p:nvPr/>
        </p:nvSpPr>
        <p:spPr bwMode="ltGray">
          <a:xfrm>
            <a:off x="0" y="1"/>
            <a:ext cx="12192000" cy="6251330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1514" y="451513"/>
            <a:ext cx="11288972" cy="5149187"/>
          </a:xfrm>
        </p:spPr>
        <p:txBody>
          <a:bodyPr rtlCol="0" anchor="ctr" anchorCtr="0"/>
          <a:lstStyle>
            <a:lvl1pPr algn="ctr">
              <a:defRPr sz="48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40B6DF-7478-4740-A710-DA5E9EBA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23C61D-72BC-4EDD-9458-71D395860092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42D89951-67E9-4086-AED0-C236A00A5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38553809-8746-49E3-BCB5-0A9FF40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73193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 flipH="1">
            <a:off x="12699" y="0"/>
            <a:ext cx="6004585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1514" y="375313"/>
            <a:ext cx="5114017" cy="1139895"/>
          </a:xfrm>
        </p:spPr>
        <p:txBody>
          <a:bodyPr rtlCol="0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51514" y="2222287"/>
            <a:ext cx="5553071" cy="3638763"/>
          </a:xfrm>
          <a:ln w="25400">
            <a:gradFill>
              <a:gsLst>
                <a:gs pos="0">
                  <a:schemeClr val="bg2"/>
                </a:gs>
                <a:gs pos="50000">
                  <a:srgbClr val="4A3030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contenido 9">
            <a:extLst>
              <a:ext uri="{FF2B5EF4-FFF2-40B4-BE49-F238E27FC236}">
                <a16:creationId xmlns:a16="http://schemas.microsoft.com/office/drawing/2014/main" id="{C95D556F-51D2-4EF4-B60F-D319BF23288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56099" y="375312"/>
            <a:ext cx="5186363" cy="5485737"/>
          </a:xfrm>
        </p:spPr>
        <p:txBody>
          <a:bodyPr rtlCol="0" anchor="t" anchorCtr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F86C4-C3A0-4CA8-8809-1D90DE9E4D4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86658110-F671-41DB-9A71-89FB238DCBEA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EDD26EA8-C9F2-49A7-8F7B-A782D30B82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241DD2E8-07A6-430F-A2FB-E2746C9352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44642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 flipH="1">
            <a:off x="6187414" y="0"/>
            <a:ext cx="6004583" cy="2041975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632696" y="359551"/>
            <a:ext cx="5114017" cy="1139895"/>
          </a:xfrm>
        </p:spPr>
        <p:txBody>
          <a:bodyPr rtlCol="0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51514" y="451513"/>
            <a:ext cx="5553071" cy="5409537"/>
          </a:xfrm>
        </p:spPr>
        <p:txBody>
          <a:bodyPr rtlCol="0" anchor="t" anchorCtr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354563" y="2222287"/>
            <a:ext cx="5553071" cy="3638764"/>
          </a:xfrm>
          <a:ln>
            <a:gradFill>
              <a:gsLst>
                <a:gs pos="0">
                  <a:schemeClr val="bg2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82940641-87D1-48C5-879E-8A5FBA53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A16780-EC07-4193-A0B7-8B9C634C5917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DBFA68A8-3A7A-430B-9A66-482C28DC5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96C17F98-4E3F-4327-8CCF-D13C3371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0313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B2B99B50-4971-48A5-8202-4CC55C7F97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0"/>
            <a:ext cx="6096000" cy="6857999"/>
          </a:xfrm>
          <a:custGeom>
            <a:avLst/>
            <a:gdLst>
              <a:gd name="connsiteX0" fmla="*/ 404916 w 6526400"/>
              <a:gd name="connsiteY0" fmla="*/ 0 h 6857999"/>
              <a:gd name="connsiteX1" fmla="*/ 1425163 w 6526400"/>
              <a:gd name="connsiteY1" fmla="*/ 0 h 6857999"/>
              <a:gd name="connsiteX2" fmla="*/ 2955534 w 6526400"/>
              <a:gd name="connsiteY2" fmla="*/ 0 h 6857999"/>
              <a:gd name="connsiteX3" fmla="*/ 6526400 w 6526400"/>
              <a:gd name="connsiteY3" fmla="*/ 0 h 6857999"/>
              <a:gd name="connsiteX4" fmla="*/ 6526400 w 6526400"/>
              <a:gd name="connsiteY4" fmla="*/ 6857999 h 6857999"/>
              <a:gd name="connsiteX5" fmla="*/ 404916 w 6526400"/>
              <a:gd name="connsiteY5" fmla="*/ 6857999 h 6857999"/>
              <a:gd name="connsiteX6" fmla="*/ 377830 w 6526400"/>
              <a:gd name="connsiteY6" fmla="*/ 2463800 h 6857999"/>
              <a:gd name="connsiteX7" fmla="*/ 0 w 6526400"/>
              <a:gd name="connsiteY7" fmla="*/ 2203407 h 6857999"/>
              <a:gd name="connsiteX8" fmla="*/ 391373 w 6526400"/>
              <a:gd name="connsiteY8" fmla="*/ 1854200 h 6857999"/>
              <a:gd name="connsiteX9" fmla="*/ 404916 w 6526400"/>
              <a:gd name="connsiteY9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26400" h="6857999">
                <a:moveTo>
                  <a:pt x="404916" y="0"/>
                </a:moveTo>
                <a:lnTo>
                  <a:pt x="1425163" y="0"/>
                </a:lnTo>
                <a:lnTo>
                  <a:pt x="2955534" y="0"/>
                </a:lnTo>
                <a:lnTo>
                  <a:pt x="6526400" y="0"/>
                </a:lnTo>
                <a:lnTo>
                  <a:pt x="6526400" y="6857999"/>
                </a:lnTo>
                <a:lnTo>
                  <a:pt x="404916" y="6857999"/>
                </a:lnTo>
                <a:lnTo>
                  <a:pt x="377830" y="2463800"/>
                </a:lnTo>
                <a:lnTo>
                  <a:pt x="0" y="2203407"/>
                </a:lnTo>
                <a:lnTo>
                  <a:pt x="391373" y="1854200"/>
                </a:lnTo>
                <a:cubicBezTo>
                  <a:pt x="395887" y="1282700"/>
                  <a:pt x="400402" y="571500"/>
                  <a:pt x="404916" y="0"/>
                </a:cubicBezTo>
                <a:close/>
              </a:path>
            </a:pathLst>
          </a:custGeom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396" y="311813"/>
            <a:ext cx="5334448" cy="1453488"/>
          </a:xfrm>
          <a:effectLst/>
        </p:spPr>
        <p:txBody>
          <a:bodyPr rtlCol="0" anchor="b">
            <a:normAutofit/>
          </a:bodyPr>
          <a:lstStyle>
            <a:lvl1pPr algn="l">
              <a:defRPr sz="4000" b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EB4FB892-38DF-40F9-B034-BC1E61FC6BF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0396" y="2057400"/>
            <a:ext cx="5334448" cy="3811588"/>
          </a:xfrm>
        </p:spPr>
        <p:txBody>
          <a:bodyPr rtlCol="0" anchor="t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29ED24-3C5F-4326-A304-DBDBA6CE7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701FF8-D49B-4CFB-997D-DF23AD6F99CE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532AEE-3AAE-4FBF-969F-8A364CE8A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6717C1A8-7DBE-4E24-BCA1-D820D780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97305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10001" y="2222287"/>
            <a:ext cx="10571998" cy="3638764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466CE2-DFEE-46B8-AFB2-817272E3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D49E0-4367-45F3-89AF-A0AB892FB1D9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27E9A94A-136A-4208-8F98-012BDAC1A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81459C8B-DA0F-4808-A642-40471D1D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76882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panorámica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489884"/>
            <a:ext cx="10561418" cy="1426004"/>
          </a:xfrm>
        </p:spPr>
        <p:txBody>
          <a:bodyPr rtlCol="0" anchor="ctr" anchorCtr="0">
            <a:normAutofit/>
          </a:bodyPr>
          <a:lstStyle>
            <a:lvl1pPr algn="ctr">
              <a:defRPr sz="4000" b="0">
                <a:ln>
                  <a:noFill/>
                </a:ln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EC1FEB3F-0898-4AE0-B8C4-970BF80A37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-5291" y="-57584"/>
            <a:ext cx="12192000" cy="4851400"/>
          </a:xfrm>
          <a:custGeom>
            <a:avLst/>
            <a:gdLst>
              <a:gd name="connsiteX0" fmla="*/ 0 w 10561638"/>
              <a:gd name="connsiteY0" fmla="*/ 0 h 3937000"/>
              <a:gd name="connsiteX1" fmla="*/ 1760273 w 10561638"/>
              <a:gd name="connsiteY1" fmla="*/ 0 h 3937000"/>
              <a:gd name="connsiteX2" fmla="*/ 1760273 w 10561638"/>
              <a:gd name="connsiteY2" fmla="*/ 0 h 3937000"/>
              <a:gd name="connsiteX3" fmla="*/ 4400683 w 10561638"/>
              <a:gd name="connsiteY3" fmla="*/ 0 h 3937000"/>
              <a:gd name="connsiteX4" fmla="*/ 10561638 w 10561638"/>
              <a:gd name="connsiteY4" fmla="*/ 0 h 3937000"/>
              <a:gd name="connsiteX5" fmla="*/ 10561638 w 10561638"/>
              <a:gd name="connsiteY5" fmla="*/ 2296583 h 3937000"/>
              <a:gd name="connsiteX6" fmla="*/ 10561638 w 10561638"/>
              <a:gd name="connsiteY6" fmla="*/ 2296583 h 3937000"/>
              <a:gd name="connsiteX7" fmla="*/ 10561638 w 10561638"/>
              <a:gd name="connsiteY7" fmla="*/ 3280833 h 3937000"/>
              <a:gd name="connsiteX8" fmla="*/ 10561638 w 10561638"/>
              <a:gd name="connsiteY8" fmla="*/ 3937000 h 3937000"/>
              <a:gd name="connsiteX9" fmla="*/ 4400683 w 10561638"/>
              <a:gd name="connsiteY9" fmla="*/ 3937000 h 3937000"/>
              <a:gd name="connsiteX10" fmla="*/ 2077263 w 10561638"/>
              <a:gd name="connsiteY10" fmla="*/ 4251330 h 3937000"/>
              <a:gd name="connsiteX11" fmla="*/ 1760273 w 10561638"/>
              <a:gd name="connsiteY11" fmla="*/ 3937000 h 3937000"/>
              <a:gd name="connsiteX12" fmla="*/ 0 w 10561638"/>
              <a:gd name="connsiteY12" fmla="*/ 3937000 h 3937000"/>
              <a:gd name="connsiteX13" fmla="*/ 0 w 10561638"/>
              <a:gd name="connsiteY13" fmla="*/ 3280833 h 3937000"/>
              <a:gd name="connsiteX14" fmla="*/ 0 w 10561638"/>
              <a:gd name="connsiteY14" fmla="*/ 2296583 h 3937000"/>
              <a:gd name="connsiteX15" fmla="*/ 0 w 10561638"/>
              <a:gd name="connsiteY15" fmla="*/ 2296583 h 3937000"/>
              <a:gd name="connsiteX16" fmla="*/ 0 w 10561638"/>
              <a:gd name="connsiteY16" fmla="*/ 0 h 393700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482983 w 10561638"/>
              <a:gd name="connsiteY9" fmla="*/ 39751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878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624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  <a:gd name="connsiteX0" fmla="*/ 0 w 10561638"/>
              <a:gd name="connsiteY0" fmla="*/ 0 h 4251330"/>
              <a:gd name="connsiteX1" fmla="*/ 1760273 w 10561638"/>
              <a:gd name="connsiteY1" fmla="*/ 0 h 4251330"/>
              <a:gd name="connsiteX2" fmla="*/ 1760273 w 10561638"/>
              <a:gd name="connsiteY2" fmla="*/ 0 h 4251330"/>
              <a:gd name="connsiteX3" fmla="*/ 4400683 w 10561638"/>
              <a:gd name="connsiteY3" fmla="*/ 0 h 4251330"/>
              <a:gd name="connsiteX4" fmla="*/ 10561638 w 10561638"/>
              <a:gd name="connsiteY4" fmla="*/ 0 h 4251330"/>
              <a:gd name="connsiteX5" fmla="*/ 10561638 w 10561638"/>
              <a:gd name="connsiteY5" fmla="*/ 2296583 h 4251330"/>
              <a:gd name="connsiteX6" fmla="*/ 10561638 w 10561638"/>
              <a:gd name="connsiteY6" fmla="*/ 2296583 h 4251330"/>
              <a:gd name="connsiteX7" fmla="*/ 10561638 w 10561638"/>
              <a:gd name="connsiteY7" fmla="*/ 3280833 h 4251330"/>
              <a:gd name="connsiteX8" fmla="*/ 10561638 w 10561638"/>
              <a:gd name="connsiteY8" fmla="*/ 3937000 h 4251330"/>
              <a:gd name="connsiteX9" fmla="*/ 2343283 w 10561638"/>
              <a:gd name="connsiteY9" fmla="*/ 3924300 h 4251330"/>
              <a:gd name="connsiteX10" fmla="*/ 2077263 w 10561638"/>
              <a:gd name="connsiteY10" fmla="*/ 4251330 h 4251330"/>
              <a:gd name="connsiteX11" fmla="*/ 1760273 w 10561638"/>
              <a:gd name="connsiteY11" fmla="*/ 3937000 h 4251330"/>
              <a:gd name="connsiteX12" fmla="*/ 0 w 10561638"/>
              <a:gd name="connsiteY12" fmla="*/ 3937000 h 4251330"/>
              <a:gd name="connsiteX13" fmla="*/ 0 w 10561638"/>
              <a:gd name="connsiteY13" fmla="*/ 3280833 h 4251330"/>
              <a:gd name="connsiteX14" fmla="*/ 0 w 10561638"/>
              <a:gd name="connsiteY14" fmla="*/ 2296583 h 4251330"/>
              <a:gd name="connsiteX15" fmla="*/ 0 w 10561638"/>
              <a:gd name="connsiteY15" fmla="*/ 2296583 h 4251330"/>
              <a:gd name="connsiteX16" fmla="*/ 0 w 10561638"/>
              <a:gd name="connsiteY16" fmla="*/ 0 h 425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61638" h="4251330">
                <a:moveTo>
                  <a:pt x="0" y="0"/>
                </a:moveTo>
                <a:lnTo>
                  <a:pt x="1760273" y="0"/>
                </a:lnTo>
                <a:lnTo>
                  <a:pt x="1760273" y="0"/>
                </a:lnTo>
                <a:lnTo>
                  <a:pt x="4400683" y="0"/>
                </a:lnTo>
                <a:lnTo>
                  <a:pt x="10561638" y="0"/>
                </a:lnTo>
                <a:lnTo>
                  <a:pt x="10561638" y="2296583"/>
                </a:lnTo>
                <a:lnTo>
                  <a:pt x="10561638" y="2296583"/>
                </a:lnTo>
                <a:lnTo>
                  <a:pt x="10561638" y="3280833"/>
                </a:lnTo>
                <a:lnTo>
                  <a:pt x="10561638" y="3937000"/>
                </a:lnTo>
                <a:lnTo>
                  <a:pt x="2343283" y="3924300"/>
                </a:lnTo>
                <a:lnTo>
                  <a:pt x="2077263" y="4251330"/>
                </a:lnTo>
                <a:lnTo>
                  <a:pt x="1760273" y="3937000"/>
                </a:lnTo>
                <a:lnTo>
                  <a:pt x="0" y="3937000"/>
                </a:lnTo>
                <a:lnTo>
                  <a:pt x="0" y="3280833"/>
                </a:lnTo>
                <a:lnTo>
                  <a:pt x="0" y="2296583"/>
                </a:lnTo>
                <a:lnTo>
                  <a:pt x="0" y="229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FE71A4-2AD7-44A1-9075-3AB1A226C1C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DAC8E451-8F0D-4243-9BCB-F9C29FEF97FB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5F74D3-28C0-4AA1-8508-75D32DA3C2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7D83112-B341-46D2-8B30-46DBC3DAE35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31117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818712" y="2222287"/>
            <a:ext cx="10554574" cy="363651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13A633-0BBE-491F-94FD-A319FC7D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04AF0A-3AF9-49F1-BA72-97A8E09ABF33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16FEDE-3F7F-4F2C-A341-BDA56AA7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1EE25F-3E3B-45D3-B259-498E69BF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40281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7"/>
          <p:cNvSpPr/>
          <p:nvPr/>
        </p:nvSpPr>
        <p:spPr bwMode="ltGray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0000" y="606669"/>
            <a:ext cx="10561418" cy="3813527"/>
          </a:xfrm>
        </p:spPr>
        <p:txBody>
          <a:bodyPr rtlCol="0" anchor="ctr" anchorCtr="0"/>
          <a:lstStyle>
            <a:lvl1pPr algn="ctr">
              <a:defRPr sz="48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10000" y="5281201"/>
            <a:ext cx="10561418" cy="433955"/>
          </a:xfrm>
        </p:spPr>
        <p:txBody>
          <a:bodyPr rtlCol="0" anchor="ctr" anchorCtr="0">
            <a:noAutofit/>
          </a:bodyPr>
          <a:lstStyle>
            <a:lvl1pPr marL="0" indent="0" algn="r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F5D18E-4241-429D-BEDB-6A7415C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CF8050-D9B5-4CA7-9061-E0949EF45D2D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5CFD55-6AD5-4B7E-AC33-483174EF1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4D43F5-DCFF-4B29-AC19-0BF28605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76405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14728" y="2174875"/>
            <a:ext cx="5189857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14729" y="2751138"/>
            <a:ext cx="5189856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87415" y="2174875"/>
            <a:ext cx="5194583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87415" y="2751138"/>
            <a:ext cx="5194583" cy="3109913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B3473E37-6504-470F-92FA-792C3ACA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ECA3B6-4A2A-4A99-9E95-BC8EA8654457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523DE74-18E2-4EF3-A1FC-8A32CCFE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51B4AF82-5505-4A7E-AA81-139F21451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5506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6"/>
          <p:cNvSpPr/>
          <p:nvPr/>
        </p:nvSpPr>
        <p:spPr bwMode="ltGray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ffectLst>
            <a:innerShdw blurRad="63500" dist="50800" dir="54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 anchor="ctr" anchorCtr="0"/>
          <a:lstStyle>
            <a:lvl1pPr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AF03C3-E3F3-4845-8D9E-9BD2A676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BDD705-EE32-4D72-AA0A-3DFA22B87416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9C7230-29FF-42F2-A662-1BC1D19C5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EBD02D-5A68-4A14-892F-DE4953F2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981268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6D14D8-4D13-4DFE-938B-B710F891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D43FF9-1FDC-4FDF-B4FB-CA915895770E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64B8A5-6021-4208-A587-B45576E6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C96ABC-E632-4853-B7CC-A2FB4B7C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403657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6"/>
          <p:cNvSpPr>
            <a:spLocks noChangeAspect="1"/>
          </p:cNvSpPr>
          <p:nvPr/>
        </p:nvSpPr>
        <p:spPr bwMode="ltGray">
          <a:xfrm>
            <a:off x="1073151" y="446087"/>
            <a:ext cx="3547533" cy="283844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ffectLst>
            <a:innerShdw blurRad="114300">
              <a:prstClr val="black"/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2576512"/>
          </a:xfrm>
        </p:spPr>
        <p:txBody>
          <a:bodyPr rtlCol="0" anchor="ctr" anchorCtr="0"/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855633" y="446088"/>
            <a:ext cx="6252633" cy="5414963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73151" y="3022600"/>
            <a:ext cx="3547533" cy="2838449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BF97433-9C09-4B71-A1E0-24F75011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A648A3-3014-4E79-9B72-A0D270E334FA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EDA271-FE91-46E6-ABB5-0A3AD244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C44DCFF3-B944-4C24-A12C-689D1FF7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56117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6"/>
          <p:cNvSpPr>
            <a:spLocks noChangeAspect="1"/>
          </p:cNvSpPr>
          <p:nvPr/>
        </p:nvSpPr>
        <p:spPr bwMode="ltGray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rtlCol="0" anchor="ctr" anchorCtr="0"/>
          <a:lstStyle>
            <a:lvl1pPr algn="l">
              <a:defRPr sz="4000" b="0" cap="none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53190" y="4443680"/>
            <a:ext cx="5891636" cy="713241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9" name="Marcador de texto 5"/>
          <p:cNvSpPr>
            <a:spLocks noGrp="1"/>
          </p:cNvSpPr>
          <p:nvPr>
            <p:ph type="body" sz="quarter" idx="16" hasCustomPrompt="1"/>
          </p:nvPr>
        </p:nvSpPr>
        <p:spPr>
          <a:xfrm>
            <a:off x="7574642" y="1081456"/>
            <a:ext cx="3810001" cy="4075465"/>
          </a:xfrm>
        </p:spPr>
        <p:txBody>
          <a:bodyPr rtlCol="0" anchor="t" anchorCtr="0">
            <a:normAutofit/>
          </a:bodyPr>
          <a:lstStyle>
            <a:lvl1pPr marL="0" indent="0" algn="l">
              <a:buFontTx/>
              <a:buNone/>
              <a:defRPr sz="2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64F81E-11BA-4BB3-AC2C-0A729DC676E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fld id="{8F2636EF-ACE9-4CE0-BBE7-61EEDEF2D8A4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F93A4488-E8DE-4FEB-88F9-B37F95CC838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DF909D08-1E53-42D5-954B-F61B5083645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409645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ma libre 6"/>
          <p:cNvSpPr>
            <a:spLocks noChangeAspect="1"/>
          </p:cNvSpPr>
          <p:nvPr/>
        </p:nvSpPr>
        <p:spPr bwMode="ltGray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ítulo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 rtlCol="0" anchor="ctr" anchorCtr="0"/>
          <a:lstStyle>
            <a:lvl1pPr algn="l">
              <a:defRPr sz="4000"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6" hasCustomPrompt="1"/>
          </p:nvPr>
        </p:nvSpPr>
        <p:spPr>
          <a:xfrm>
            <a:off x="6156000" y="2286000"/>
            <a:ext cx="4880300" cy="2295525"/>
          </a:xfrm>
        </p:spPr>
        <p:txBody>
          <a:bodyPr rtlCol="0" anchor="ctr" anchorCtr="0">
            <a:normAutofit/>
          </a:bodyPr>
          <a:lstStyle>
            <a:lvl1pPr marL="0" indent="0" algn="ctr">
              <a:buFontTx/>
              <a:buNone/>
              <a:defRPr sz="2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142ECB-4FB1-4B01-80F3-04208C781B1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pPr rtl="0"/>
            <a:fld id="{82403D32-1036-4E20-B05E-93A4B3F27179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776F215A-F354-440E-A263-A920F59508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90FC50C-9C02-4BD6-9CBE-6880E12977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68461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6"/>
          <p:cNvSpPr>
            <a:spLocks noChangeAspect="1"/>
          </p:cNvSpPr>
          <p:nvPr/>
        </p:nvSpPr>
        <p:spPr bwMode="ltGray">
          <a:xfrm>
            <a:off x="7669651" y="0"/>
            <a:ext cx="4522349" cy="5861051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ffectLst>
            <a:innerShdw blurRad="63500" dist="50800" dir="8100000">
              <a:prstClr val="black">
                <a:alpha val="50000"/>
              </a:prstClr>
            </a:innerShdw>
          </a:effectLst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3754460" cy="5134798"/>
          </a:xfrm>
        </p:spPr>
        <p:txBody>
          <a:bodyPr vert="horz" rtlCol="0" anchor="ctr" anchorCtr="1"/>
          <a:lstStyle>
            <a:lvl1pPr algn="l">
              <a:defRPr b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10001" y="446089"/>
            <a:ext cx="6611540" cy="5414962"/>
          </a:xfrm>
        </p:spPr>
        <p:txBody>
          <a:bodyPr vert="horz" rtlCol="0" anchor="ctr" anchorCtr="1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7128B4-F868-4384-A8AA-473DA35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ED9500-2405-4E53-BB13-657A10319D0C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FF940D-9281-4C2A-BA62-E5854A11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B1454F-842C-4F51-A7E7-0335B2FB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8369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82CF9-C324-26BB-3D1A-1CE733185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4D2DB-3CDC-31BC-C66E-468913913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B1940-3CFE-4915-F876-28C3B0423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E2CBC-D6F8-429C-8E84-F3878A5131BA}" type="datetimeFigureOut">
              <a:rPr lang="es-MX" smtClean="0"/>
              <a:t>27/09/2025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86F8-4309-7114-FBA9-53095FF9D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B4DE9-A044-B771-795C-C8DF2FC54C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B3B8A-4EB0-46D0-97F1-0C33837FA4A1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782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rtl="0"/>
            <a:fld id="{8BD1572E-1521-478D-85F1-7F19532C7538}" type="datetime1">
              <a:rPr lang="es-ES" noProof="0" smtClean="0"/>
              <a:t>27/09/2025</a:t>
            </a:fld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pPr rtl="0"/>
            <a:fld id="{A4942799-31AF-4FF8-9D79-C1A3E01FB207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948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87" r:id="rId3"/>
    <p:sldLayoutId id="2147483688" r:id="rId4"/>
    <p:sldLayoutId id="2147483689" r:id="rId5"/>
    <p:sldLayoutId id="2147483681" r:id="rId6"/>
    <p:sldLayoutId id="2147483690" r:id="rId7"/>
    <p:sldLayoutId id="2147483682" r:id="rId8"/>
    <p:sldLayoutId id="2147483674" r:id="rId9"/>
    <p:sldLayoutId id="2147483675" r:id="rId10"/>
    <p:sldLayoutId id="2147483677" r:id="rId11"/>
    <p:sldLayoutId id="2147483678" r:id="rId12"/>
    <p:sldLayoutId id="2147483679" r:id="rId13"/>
    <p:sldLayoutId id="2147483680" r:id="rId14"/>
    <p:sldLayoutId id="2147483683" r:id="rId15"/>
    <p:sldLayoutId id="2147483684" r:id="rId16"/>
    <p:sldLayoutId id="214748368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58321-7A46-0426-8032-8C7032B5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sz="3200" i="1">
                <a:latin typeface="Aptos"/>
              </a:rPr>
              <a:t>Creación y Preparación de un Marco de Trabajo para PYMES en Análisis de Datos</a:t>
            </a:r>
            <a:endParaRPr lang="es-ES" sz="32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14C43A-A558-AECB-C62E-8246088F7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001" y="3066665"/>
            <a:ext cx="10571998" cy="2794386"/>
          </a:xfrm>
        </p:spPr>
        <p:txBody>
          <a:bodyPr>
            <a:normAutofit lnSpcReduction="10000"/>
          </a:bodyPr>
          <a:lstStyle/>
          <a:p>
            <a:pPr algn="ctr"/>
            <a:r>
              <a:rPr lang="es-ES"/>
              <a:t>Andrea Martínez.</a:t>
            </a:r>
          </a:p>
          <a:p>
            <a:pPr algn="ctr"/>
            <a:r>
              <a:rPr lang="es-ES"/>
              <a:t>Josué Rivas.</a:t>
            </a:r>
          </a:p>
          <a:p>
            <a:pPr algn="ctr"/>
            <a:r>
              <a:rPr lang="es-ES"/>
              <a:t>José Miguel Meza.</a:t>
            </a:r>
          </a:p>
          <a:p>
            <a:pPr algn="ctr"/>
            <a:r>
              <a:rPr lang="es-ES"/>
              <a:t>Marco Calderón.</a:t>
            </a:r>
          </a:p>
          <a:p>
            <a:pPr algn="ctr"/>
            <a:r>
              <a:rPr lang="es-ES"/>
              <a:t>Osvaldo Ramírez.</a:t>
            </a:r>
          </a:p>
          <a:p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43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4D8D5E-894C-79D2-E254-590A8A82C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>
                <a:solidFill>
                  <a:srgbClr val="FFFFFF"/>
                </a:solidFill>
                <a:latin typeface="Century Gothic"/>
              </a:rPr>
              <a:t>INTRODUCCION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1C25A5-47D9-FBB5-5050-4BBA7A1BB5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sz="2400">
                <a:latin typeface="Calibri"/>
                <a:ea typeface="Calibri"/>
                <a:cs typeface="Calibri"/>
              </a:rPr>
              <a:t>Hoy en día, las pequeñas y medianas empresas (PYMES) enfrentan importantes retos en la gestión y análisis de sus datos. Uno de los principales desafíos es la falta de herramientas accesibles y estructuradas que les permitan obtener información valiosa a partir de sus registros de ventas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905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FEAA-6C92-626F-5E07-AFCE4829C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F5880-B899-D17A-227A-1B5ECE84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600">
                <a:latin typeface="Century Gothic"/>
                <a:ea typeface="Calibri"/>
                <a:cs typeface="Calibri"/>
              </a:rPr>
              <a:t>Resumen</a:t>
            </a:r>
            <a:r>
              <a:rPr lang="es-ES" sz="3600" b="1">
                <a:solidFill>
                  <a:srgbClr val="FFFFFF"/>
                </a:solidFill>
                <a:latin typeface="Century Gothic"/>
                <a:ea typeface="Calibri"/>
                <a:cs typeface="Calibri"/>
              </a:rPr>
              <a:t> </a:t>
            </a:r>
            <a:r>
              <a:rPr lang="es-ES" sz="3600">
                <a:latin typeface="Century Gothic"/>
                <a:ea typeface="Calibri"/>
                <a:cs typeface="Calibri"/>
              </a:rPr>
              <a:t>ejecutivo</a:t>
            </a:r>
            <a:endParaRPr lang="es-ES" sz="3600">
              <a:latin typeface="Century Gothic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8AEC75-146B-2B42-8B65-8F29C54D1E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>
                <a:latin typeface="Calibri"/>
                <a:ea typeface="Calibri"/>
                <a:cs typeface="Calibri"/>
              </a:rPr>
              <a:t>Este proyecto ofrece un marco de trabajo práctico y accesible para que las pequeñas y medianas empresas (PYMES) apliquen técnicas de ciencia de datos a sus ventas, transformando información cruda en </a:t>
            </a:r>
            <a:r>
              <a:rPr lang="es-ES" err="1">
                <a:latin typeface="Calibri"/>
                <a:ea typeface="Calibri"/>
                <a:cs typeface="Calibri"/>
              </a:rPr>
              <a:t>insights</a:t>
            </a:r>
            <a:r>
              <a:rPr lang="es-ES">
                <a:latin typeface="Calibri"/>
                <a:ea typeface="Calibri"/>
                <a:cs typeface="Calibri"/>
              </a:rPr>
              <a:t> estratégicos que impulsen la toma de decisiones comerciales.</a:t>
            </a:r>
          </a:p>
        </p:txBody>
      </p:sp>
    </p:spTree>
    <p:extLst>
      <p:ext uri="{BB962C8B-B14F-4D97-AF65-F5344CB8AC3E}">
        <p14:creationId xmlns:p14="http://schemas.microsoft.com/office/powerpoint/2010/main" val="123285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3094-E6A1-5CB4-C1B7-B06DE465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err="1">
                <a:latin typeface="Aptos Display"/>
              </a:rPr>
              <a:t>Procesos</a:t>
            </a:r>
            <a:r>
              <a:rPr lang="en-US" sz="4400">
                <a:latin typeface="Aptos Display"/>
              </a:rPr>
              <a:t> ETL y EDA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9352D-07C2-0D14-6191-6F76261AA9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>
                <a:latin typeface="Aptos"/>
              </a:rPr>
              <a:t>ETL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charset="2"/>
              <a:buChar char="o"/>
            </a:pPr>
            <a:r>
              <a:rPr lang="en-US" sz="2400" err="1">
                <a:latin typeface="Aptos"/>
              </a:rPr>
              <a:t>Extraccion</a:t>
            </a:r>
            <a:r>
              <a:rPr lang="en-US" sz="2400">
                <a:latin typeface="Aptos"/>
              </a:rPr>
              <a:t> </a:t>
            </a:r>
            <a:r>
              <a:rPr lang="en-US" sz="2400" err="1">
                <a:latin typeface="Aptos"/>
              </a:rPr>
              <a:t>cruda</a:t>
            </a:r>
            <a:r>
              <a:rPr lang="en-US" sz="2400">
                <a:latin typeface="Aptos"/>
              </a:rPr>
              <a:t> de </a:t>
            </a:r>
            <a:r>
              <a:rPr lang="en-US" sz="2400" err="1">
                <a:latin typeface="Aptos"/>
              </a:rPr>
              <a:t>FrameWorkd</a:t>
            </a:r>
            <a:r>
              <a:rPr lang="en-US" sz="2400">
                <a:latin typeface="Aptos"/>
              </a:rPr>
              <a:t> </a:t>
            </a:r>
            <a:r>
              <a:rPr lang="en-US" sz="2400" err="1">
                <a:latin typeface="Aptos"/>
              </a:rPr>
              <a:t>en</a:t>
            </a:r>
            <a:r>
              <a:rPr lang="en-US" sz="2400">
                <a:latin typeface="Aptos"/>
              </a:rPr>
              <a:t> </a:t>
            </a:r>
            <a:r>
              <a:rPr lang="en-US" sz="2400" err="1">
                <a:latin typeface="Aptos"/>
              </a:rPr>
              <a:t>formato</a:t>
            </a:r>
            <a:r>
              <a:rPr lang="en-US" sz="2400">
                <a:latin typeface="Aptos"/>
              </a:rPr>
              <a:t> CSV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charset="2"/>
              <a:buChar char="o"/>
            </a:pPr>
            <a:r>
              <a:rPr lang="en-US" sz="2400">
                <a:latin typeface="Aptos"/>
              </a:rPr>
              <a:t>Transformacion, </a:t>
            </a:r>
            <a:r>
              <a:rPr lang="en-US" sz="2400" err="1">
                <a:latin typeface="Aptos"/>
              </a:rPr>
              <a:t>limpieza</a:t>
            </a:r>
            <a:r>
              <a:rPr lang="en-US" sz="2400">
                <a:latin typeface="Aptos"/>
              </a:rPr>
              <a:t> y </a:t>
            </a:r>
            <a:r>
              <a:rPr lang="en-US" sz="2400" err="1">
                <a:latin typeface="Aptos"/>
              </a:rPr>
              <a:t>normalizacion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charset="2"/>
              <a:buChar char="o"/>
            </a:pPr>
            <a:r>
              <a:rPr lang="en-US" sz="2400">
                <a:latin typeface="Aptos"/>
              </a:rPr>
              <a:t>Carga de </a:t>
            </a:r>
            <a:r>
              <a:rPr lang="en-US" sz="2400" err="1">
                <a:latin typeface="Aptos"/>
              </a:rPr>
              <a:t>datos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charset="2"/>
              <a:buChar char="o"/>
            </a:pPr>
            <a:endParaRPr lang="en-US" sz="2400">
              <a:latin typeface="Apto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Courier New,monospace" charset="2"/>
              <a:buChar char="o"/>
            </a:pPr>
            <a:r>
              <a:rPr lang="en-US">
                <a:latin typeface="Aptos"/>
              </a:rPr>
              <a:t>EDA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Courier New,monospace" charset="2"/>
              <a:buChar char="o"/>
            </a:pPr>
            <a:r>
              <a:rPr lang="en-US" sz="2400" err="1">
                <a:latin typeface="Aptos"/>
              </a:rPr>
              <a:t>Aplicacion</a:t>
            </a:r>
            <a:r>
              <a:rPr lang="en-US" sz="2400">
                <a:latin typeface="Aptos"/>
              </a:rPr>
              <a:t> de </a:t>
            </a:r>
            <a:r>
              <a:rPr lang="en-US" sz="2400" err="1">
                <a:latin typeface="Aptos"/>
              </a:rPr>
              <a:t>metodos</a:t>
            </a:r>
            <a:r>
              <a:rPr lang="en-US" sz="2400">
                <a:latin typeface="Aptos"/>
              </a:rPr>
              <a:t> </a:t>
            </a:r>
            <a:r>
              <a:rPr lang="en-US" sz="2400" err="1">
                <a:latin typeface="Aptos"/>
              </a:rPr>
              <a:t>estadisticos</a:t>
            </a:r>
            <a:r>
              <a:rPr lang="en-US" sz="2400">
                <a:latin typeface="Aptos"/>
              </a:rPr>
              <a:t> y </a:t>
            </a:r>
            <a:r>
              <a:rPr lang="en-US" sz="2400" err="1">
                <a:latin typeface="Aptos"/>
              </a:rPr>
              <a:t>tecnicos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,Sans-Serif" charset="2"/>
              <a:buChar char="§"/>
            </a:pPr>
            <a:r>
              <a:rPr lang="en-US" sz="2000">
                <a:latin typeface="Aptos"/>
              </a:rPr>
              <a:t>Media, Mediana, </a:t>
            </a:r>
            <a:r>
              <a:rPr lang="en-US" sz="2000" err="1">
                <a:latin typeface="Aptos"/>
              </a:rPr>
              <a:t>desviacion</a:t>
            </a:r>
            <a:r>
              <a:rPr lang="en-US" sz="2000">
                <a:latin typeface="Aptos"/>
              </a:rPr>
              <a:t> </a:t>
            </a:r>
            <a:r>
              <a:rPr lang="en-US" sz="2000" err="1">
                <a:latin typeface="Aptos"/>
              </a:rPr>
              <a:t>estandar</a:t>
            </a:r>
            <a:r>
              <a:rPr lang="en-US" sz="2000">
                <a:latin typeface="Aptos"/>
              </a:rPr>
              <a:t>.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Font typeface="Wingdings,Sans-Serif" charset="2"/>
              <a:buChar char="§"/>
            </a:pPr>
            <a:endParaRPr lang="en-US" sz="20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5743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2D37BC-7D91-4F83-845D-70080D7DD6FC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 rtlCol="0"/>
          <a:lstStyle/>
          <a:p>
            <a:pPr rtl="0"/>
            <a:r>
              <a:rPr lang="es-ES" b="0"/>
              <a:t>MODELOS SELECCIONADOS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E5DACC-1D74-41AD-B036-C015472B9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es-ES" sz="2400"/>
              <a:t>MODELOS, TECNICAS Y JUSTIFICACION</a:t>
            </a:r>
          </a:p>
        </p:txBody>
      </p:sp>
    </p:spTree>
    <p:extLst>
      <p:ext uri="{BB962C8B-B14F-4D97-AF65-F5344CB8AC3E}">
        <p14:creationId xmlns:p14="http://schemas.microsoft.com/office/powerpoint/2010/main" val="1613975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B58F-1CF7-41B5-BF70-710D7AC7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Tipos de modelos</a:t>
            </a:r>
            <a:br>
              <a:rPr lang="es-ES"/>
            </a:br>
            <a:endParaRPr lang="es-ES" sz="2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FF1311-DD92-45BA-B10F-C1A324C27B5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9625" y="2222500"/>
            <a:ext cx="8999393" cy="3638550"/>
          </a:xfrm>
        </p:spPr>
        <p:txBody>
          <a:bodyPr rtlCol="0"/>
          <a:lstStyle/>
          <a:p>
            <a:r>
              <a:rPr lang="es-SV" b="1"/>
              <a:t>Modelado Predictivo</a:t>
            </a:r>
            <a:r>
              <a:rPr lang="es-SV"/>
              <a:t>: se orienta a anticipar comportamientos futuros mediante datos históricos.</a:t>
            </a:r>
            <a:r>
              <a:rPr lang="es-ES"/>
              <a:t> </a:t>
            </a:r>
          </a:p>
          <a:p>
            <a:r>
              <a:rPr lang="es-ES" b="1"/>
              <a:t>Modelado Descriptivo</a:t>
            </a:r>
            <a:r>
              <a:rPr lang="es-ES"/>
              <a:t>: permite analizar patrones y relaciones presentes en los datos</a:t>
            </a:r>
          </a:p>
          <a:p>
            <a:r>
              <a:rPr lang="es-ES" b="1"/>
              <a:t>Modelado Prescriptivo</a:t>
            </a:r>
            <a:r>
              <a:rPr lang="es-ES"/>
              <a:t>: va más allá de predecir, proponiendo acciones óptimas que generen valor, como recomendaciones de productos, identificación de clientes clave o rankings estratégicos.</a:t>
            </a:r>
          </a:p>
        </p:txBody>
      </p:sp>
    </p:spTree>
    <p:extLst>
      <p:ext uri="{BB962C8B-B14F-4D97-AF65-F5344CB8AC3E}">
        <p14:creationId xmlns:p14="http://schemas.microsoft.com/office/powerpoint/2010/main" val="213104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257A-9E3D-5D4E-95C1-FA7CEC8A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52D69-C7D4-8FB2-68FB-CBD206B8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SV"/>
              <a:t>Técnicas utilizadas</a:t>
            </a:r>
            <a:br>
              <a:rPr lang="es-ES"/>
            </a:br>
            <a:endParaRPr lang="es-ES" sz="26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F4E92-8C10-E899-5433-7A69FC06AC89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809625" y="2222500"/>
            <a:ext cx="8999393" cy="3638550"/>
          </a:xfrm>
        </p:spPr>
        <p:txBody>
          <a:bodyPr rtlCol="0"/>
          <a:lstStyle/>
          <a:p>
            <a:r>
              <a:rPr lang="es-SV" b="1" i="1"/>
              <a:t>Series temporales (ARIMA)</a:t>
            </a:r>
            <a:r>
              <a:rPr lang="es-SV" b="1"/>
              <a:t> </a:t>
            </a:r>
            <a:r>
              <a:rPr lang="es-SV"/>
              <a:t>para pronóstico de ventas.</a:t>
            </a:r>
            <a:r>
              <a:rPr lang="es-ES" b="1"/>
              <a:t> </a:t>
            </a:r>
          </a:p>
          <a:p>
            <a:r>
              <a:rPr lang="es-ES" b="1" i="1"/>
              <a:t>Regresión lineal y SVM (</a:t>
            </a:r>
            <a:r>
              <a:rPr lang="es-SV" b="1" err="1"/>
              <a:t>Support</a:t>
            </a:r>
            <a:r>
              <a:rPr lang="es-SV" b="1"/>
              <a:t> Vector Machine</a:t>
            </a:r>
            <a:r>
              <a:rPr lang="es-ES" b="1" i="1"/>
              <a:t>)</a:t>
            </a:r>
            <a:r>
              <a:rPr lang="es-ES" b="1"/>
              <a:t> </a:t>
            </a:r>
            <a:r>
              <a:rPr lang="es-ES"/>
              <a:t>para estimaciones basadas en variables históricas.</a:t>
            </a:r>
          </a:p>
          <a:p>
            <a:r>
              <a:rPr lang="es-ES" b="1" i="1" err="1"/>
              <a:t>Clustering</a:t>
            </a:r>
            <a:r>
              <a:rPr lang="es-ES" b="1" i="1"/>
              <a:t> (K-</a:t>
            </a:r>
            <a:r>
              <a:rPr lang="es-ES" b="1" i="1" err="1"/>
              <a:t>means</a:t>
            </a:r>
            <a:r>
              <a:rPr lang="es-ES" b="1" i="1"/>
              <a:t>)</a:t>
            </a:r>
            <a:r>
              <a:rPr lang="es-ES" b="1"/>
              <a:t> y </a:t>
            </a:r>
            <a:r>
              <a:rPr lang="es-ES" b="1" i="1"/>
              <a:t>PCA (</a:t>
            </a:r>
            <a:r>
              <a:rPr lang="es-SV" b="1"/>
              <a:t>Principal </a:t>
            </a:r>
            <a:r>
              <a:rPr lang="es-SV" b="1" err="1"/>
              <a:t>Component</a:t>
            </a:r>
            <a:r>
              <a:rPr lang="es-SV" b="1"/>
              <a:t> </a:t>
            </a:r>
            <a:r>
              <a:rPr lang="es-SV" b="1" err="1"/>
              <a:t>Analysis</a:t>
            </a:r>
            <a:r>
              <a:rPr lang="es-ES" b="1" i="1"/>
              <a:t>)</a:t>
            </a:r>
            <a:r>
              <a:rPr lang="es-ES" b="1"/>
              <a:t> </a:t>
            </a:r>
            <a:r>
              <a:rPr lang="es-ES"/>
              <a:t>para segmentación y reducción de dimensionalidad.</a:t>
            </a:r>
          </a:p>
          <a:p>
            <a:r>
              <a:rPr lang="es-ES" b="1" i="1" err="1"/>
              <a:t>Random</a:t>
            </a:r>
            <a:r>
              <a:rPr lang="es-ES" b="1" i="1"/>
              <a:t> Forest</a:t>
            </a:r>
            <a:r>
              <a:rPr lang="es-ES" b="1"/>
              <a:t> y </a:t>
            </a:r>
            <a:r>
              <a:rPr lang="es-ES" b="1" i="1"/>
              <a:t>árboles de decisión</a:t>
            </a:r>
            <a:r>
              <a:rPr lang="es-ES" b="1"/>
              <a:t> </a:t>
            </a:r>
            <a:r>
              <a:rPr lang="es-ES"/>
              <a:t>para clasificación.</a:t>
            </a:r>
          </a:p>
          <a:p>
            <a:r>
              <a:rPr lang="es-ES" b="1" i="1" err="1"/>
              <a:t>Isolation</a:t>
            </a:r>
            <a:r>
              <a:rPr lang="es-ES" b="1" i="1"/>
              <a:t> Forest</a:t>
            </a:r>
            <a:r>
              <a:rPr lang="es-ES" b="1"/>
              <a:t> </a:t>
            </a:r>
            <a:r>
              <a:rPr lang="es-ES"/>
              <a:t>para detección de anomalías.</a:t>
            </a:r>
          </a:p>
        </p:txBody>
      </p:sp>
    </p:spTree>
    <p:extLst>
      <p:ext uri="{BB962C8B-B14F-4D97-AF65-F5344CB8AC3E}">
        <p14:creationId xmlns:p14="http://schemas.microsoft.com/office/powerpoint/2010/main" val="866194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6498D-2480-4101-BEA1-C2190270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Justificación de modelos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53A980-ADD3-49DF-ACFE-8E50E3F2AB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81645" y="2601884"/>
            <a:ext cx="10960818" cy="3259165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es-SV" sz="2400"/>
              <a:t>La </a:t>
            </a:r>
            <a:r>
              <a:rPr lang="es-SV" sz="2400" b="1"/>
              <a:t>selección de modelos</a:t>
            </a:r>
            <a:r>
              <a:rPr lang="es-SV" sz="2400"/>
              <a:t> respondió a la naturaleza del problema: modelos supervisados (regresión y clasificación) cuando se contaban con variables de entrada y salida definidas; modelos no supervisados (K-</a:t>
            </a:r>
            <a:r>
              <a:rPr lang="es-SV" sz="2400" err="1"/>
              <a:t>means</a:t>
            </a:r>
            <a:r>
              <a:rPr lang="es-SV" sz="2400"/>
              <a:t>, PCA) para exploración y segmentación; y algoritmos de detección de anomalías para control de calidad de datos y prevención de fraudes.</a:t>
            </a:r>
          </a:p>
        </p:txBody>
      </p:sp>
    </p:spTree>
    <p:extLst>
      <p:ext uri="{BB962C8B-B14F-4D97-AF65-F5344CB8AC3E}">
        <p14:creationId xmlns:p14="http://schemas.microsoft.com/office/powerpoint/2010/main" val="389558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0C48B-D1CE-7F22-A889-82BAC1F6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40173-49FE-5B6F-2431-A479B945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Validación de modelos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1E1C0E-70E6-80A1-612A-07DA2E8F084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81645" y="2601884"/>
            <a:ext cx="10960818" cy="3259165"/>
          </a:xfrm>
        </p:spPr>
        <p:txBody>
          <a:bodyPr rtlCol="0">
            <a:normAutofit/>
          </a:bodyPr>
          <a:lstStyle/>
          <a:p>
            <a:r>
              <a:rPr lang="es-ES" sz="2400" i="1"/>
              <a:t>MSE</a:t>
            </a:r>
            <a:r>
              <a:rPr lang="es-ES" sz="2400"/>
              <a:t> y </a:t>
            </a:r>
            <a:r>
              <a:rPr lang="es-ES" sz="2400" i="1"/>
              <a:t>RMSE</a:t>
            </a:r>
            <a:r>
              <a:rPr lang="es-ES" sz="2400"/>
              <a:t> para medir magnitud de los errores.</a:t>
            </a:r>
          </a:p>
          <a:p>
            <a:r>
              <a:rPr lang="es-ES" sz="2400" i="1"/>
              <a:t>MAE</a:t>
            </a:r>
            <a:r>
              <a:rPr lang="es-ES" sz="2400"/>
              <a:t> para errores promedio en valores absolutos.</a:t>
            </a:r>
          </a:p>
          <a:p>
            <a:r>
              <a:rPr lang="es-ES" sz="2400" i="1"/>
              <a:t>R²</a:t>
            </a:r>
            <a:r>
              <a:rPr lang="es-ES" sz="2400"/>
              <a:t> para determinar la capacidad explicativa del modelo.</a:t>
            </a:r>
            <a:endParaRPr lang="es-ES" sz="2600"/>
          </a:p>
        </p:txBody>
      </p:sp>
    </p:spTree>
    <p:extLst>
      <p:ext uri="{BB962C8B-B14F-4D97-AF65-F5344CB8AC3E}">
        <p14:creationId xmlns:p14="http://schemas.microsoft.com/office/powerpoint/2010/main" val="1824774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B176-C262-1A5B-EA18-FA4CCCAC0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C05D79-DBE1-B31F-3CB2-48FB4E02C0CD}"/>
              </a:ext>
            </a:extLst>
          </p:cNvPr>
          <p:cNvSpPr>
            <a:spLocks noGrp="1"/>
          </p:cNvSpPr>
          <p:nvPr>
            <p:ph type="ctrTitle"/>
          </p:nvPr>
        </p:nvSpPr>
        <p:spPr bwMode="black"/>
        <p:txBody>
          <a:bodyPr rtlCol="0"/>
          <a:lstStyle/>
          <a:p>
            <a:pPr rtl="0"/>
            <a:r>
              <a:rPr lang="es-ES"/>
              <a:t>VISUALIZACION DE DATOS</a:t>
            </a:r>
            <a:endParaRPr lang="es-ES" b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68AA20-523C-3FCE-9304-0DCB1CA8C1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es-ES" sz="2400" err="1"/>
              <a:t>Dashboard</a:t>
            </a:r>
            <a:r>
              <a:rPr lang="es-ES" sz="2400"/>
              <a:t> en </a:t>
            </a:r>
            <a:r>
              <a:rPr lang="es-ES" sz="2400" err="1"/>
              <a:t>PowerBI</a:t>
            </a: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4060544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6B58A5BF-58D3-044F-A70C-BD3EB763FD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1182354"/>
                  </p:ext>
                </p:extLst>
              </p:nvPr>
            </p:nvGraphicFramePr>
            <p:xfrm>
              <a:off x="301214" y="365759"/>
              <a:ext cx="11521440" cy="62501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6B58A5BF-58D3-044F-A70C-BD3EB763FD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301214" y="365759"/>
                <a:ext cx="11521440" cy="62501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960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22D8672C-65DA-E2DB-2186-4638989B32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3333432"/>
                  </p:ext>
                </p:extLst>
              </p:nvPr>
            </p:nvGraphicFramePr>
            <p:xfrm>
              <a:off x="215153" y="430306"/>
              <a:ext cx="11532198" cy="626094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22D8672C-65DA-E2DB-2186-4638989B32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>
                <a:clrChange>
                  <a:clrFrom>
                    <a:prstClr val="black"/>
                  </a:clrFrom>
                  <a:clrTo>
                    <a:prstClr val="black">
                      <a:alpha val="0"/>
                    </a:prstClr>
                  </a:clrTo>
                </a:clrChange>
              </a:blip>
              <a:stretch>
                <a:fillRect/>
              </a:stretch>
            </p:blipFill>
            <p:spPr>
              <a:xfrm>
                <a:off x="215153" y="430306"/>
                <a:ext cx="11532198" cy="62609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8536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55EF-FD71-9AC8-4200-12F00EC8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Conclusion, </a:t>
            </a:r>
            <a:r>
              <a:rPr lang="en-US" err="1"/>
              <a:t>Resultados</a:t>
            </a:r>
            <a:r>
              <a:rPr lang="en-US"/>
              <a:t> y </a:t>
            </a:r>
            <a:r>
              <a:rPr lang="en-US" err="1"/>
              <a:t>Logros</a:t>
            </a:r>
            <a:endParaRPr lang="es-E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6323B-0E6E-BF68-4DE5-8F05BE49BD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US" b="1">
              <a:latin typeface="Century Gothic"/>
              <a:ea typeface="Calibri"/>
              <a:cs typeface="Calibri"/>
            </a:endParaRPr>
          </a:p>
          <a:p>
            <a:r>
              <a:rPr lang="en-US" b="1">
                <a:ea typeface="+mn-lt"/>
                <a:cs typeface="+mn-lt"/>
              </a:rPr>
              <a:t>Marco de </a:t>
            </a:r>
            <a:r>
              <a:rPr lang="en-US" b="1" err="1">
                <a:ea typeface="+mn-lt"/>
                <a:cs typeface="+mn-lt"/>
              </a:rPr>
              <a:t>Trabajo</a:t>
            </a:r>
            <a:r>
              <a:rPr lang="en-US" b="1">
                <a:ea typeface="+mn-lt"/>
                <a:cs typeface="+mn-lt"/>
              </a:rPr>
              <a:t> Validado.</a:t>
            </a:r>
          </a:p>
          <a:p>
            <a:r>
              <a:rPr lang="en-US" b="1">
                <a:ea typeface="+mn-lt"/>
                <a:cs typeface="+mn-lt"/>
              </a:rPr>
              <a:t>Modelado </a:t>
            </a:r>
            <a:r>
              <a:rPr lang="en-US" b="1" err="1">
                <a:ea typeface="+mn-lt"/>
                <a:cs typeface="+mn-lt"/>
              </a:rPr>
              <a:t>Predictivo</a:t>
            </a:r>
            <a:r>
              <a:rPr lang="en-US" b="1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Relevancia</a:t>
            </a:r>
            <a:r>
              <a:rPr lang="en-US" b="1">
                <a:ea typeface="+mn-lt"/>
                <a:cs typeface="+mn-lt"/>
              </a:rPr>
              <a:t> para las PYMES.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Limitaciones</a:t>
            </a:r>
            <a:r>
              <a:rPr lang="en-US" b="1">
                <a:ea typeface="+mn-lt"/>
                <a:cs typeface="+mn-lt"/>
              </a:rPr>
              <a:t>.</a:t>
            </a:r>
            <a:endParaRPr lang="en-US" b="1">
              <a:latin typeface="Century Gothic"/>
              <a:ea typeface="Calibri"/>
              <a:cs typeface="Calibri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08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673F6-9ACC-6CEA-F28F-5B13E92F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ea typeface="+mj-lt"/>
                <a:cs typeface="+mj-lt"/>
              </a:rPr>
              <a:t>Reflexiones Finales y Aprendizaje</a:t>
            </a:r>
            <a:endParaRPr lang="es-ES"/>
          </a:p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CB4C6F-2630-6F7A-CC40-BA3BBFD56A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>
                <a:ea typeface="+mn-lt"/>
                <a:cs typeface="+mn-lt"/>
              </a:rPr>
              <a:t>Se recomienda a las PYMES </a:t>
            </a:r>
            <a:r>
              <a:rPr lang="es-ES" b="1">
                <a:ea typeface="+mn-lt"/>
                <a:cs typeface="+mn-lt"/>
              </a:rPr>
              <a:t>mejorar la captura y calidad de los datos</a:t>
            </a:r>
            <a:r>
              <a:rPr lang="es-ES">
                <a:ea typeface="+mn-lt"/>
                <a:cs typeface="+mn-lt"/>
              </a:rPr>
              <a:t> desde el origen.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Es pertinente explorar </a:t>
            </a:r>
            <a:r>
              <a:rPr lang="es-ES" b="1">
                <a:ea typeface="+mn-lt"/>
                <a:cs typeface="+mn-lt"/>
              </a:rPr>
              <a:t>algoritmos más sofisticados</a:t>
            </a:r>
            <a:r>
              <a:rPr lang="es-ES">
                <a:ea typeface="+mn-lt"/>
                <a:cs typeface="+mn-lt"/>
              </a:rPr>
              <a:t> e integrar </a:t>
            </a:r>
            <a:r>
              <a:rPr lang="es-ES" b="1">
                <a:ea typeface="+mn-lt"/>
                <a:cs typeface="+mn-lt"/>
              </a:rPr>
              <a:t>fuentes de datos externas</a:t>
            </a:r>
            <a:r>
              <a:rPr lang="es-ES">
                <a:ea typeface="+mn-lt"/>
                <a:cs typeface="+mn-lt"/>
              </a:rPr>
              <a:t> (ej. tendencias de mercado) para enriquecer el análisis.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Es crucial </a:t>
            </a:r>
            <a:r>
              <a:rPr lang="es-ES" b="1">
                <a:ea typeface="+mn-lt"/>
                <a:cs typeface="+mn-lt"/>
              </a:rPr>
              <a:t>capacitar a los equipos</a:t>
            </a:r>
            <a:r>
              <a:rPr lang="es-ES">
                <a:ea typeface="+mn-lt"/>
                <a:cs typeface="+mn-lt"/>
              </a:rPr>
              <a:t> para que puedan interpretar los </a:t>
            </a:r>
            <a:r>
              <a:rPr lang="es-ES" err="1">
                <a:ea typeface="+mn-lt"/>
                <a:cs typeface="+mn-lt"/>
              </a:rPr>
              <a:t>dashboards</a:t>
            </a:r>
            <a:r>
              <a:rPr lang="es-ES">
                <a:ea typeface="+mn-lt"/>
                <a:cs typeface="+mn-lt"/>
              </a:rPr>
              <a:t> y convertir la información en acciones.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En síntesis, el proyecto sienta las bases y demuestra la </a:t>
            </a:r>
            <a:r>
              <a:rPr lang="es-ES" b="1">
                <a:ea typeface="+mn-lt"/>
                <a:cs typeface="+mn-lt"/>
              </a:rPr>
              <a:t>viabilidad</a:t>
            </a:r>
            <a:r>
              <a:rPr lang="es-ES">
                <a:ea typeface="+mn-lt"/>
                <a:cs typeface="+mn-lt"/>
              </a:rPr>
              <a:t> de aplicar analítica de datos en contextos con recursos limitados, siendo un primer paso con margen de mejora pero con un valor fundamental en la promoción de la competitividad.</a:t>
            </a:r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343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2E087-312A-C6A0-BFB5-C61EA49A3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0C773-9893-A3CB-ADAB-2A2E247C7C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9600"/>
              <a:t>GRACIAS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540887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itable">
  <a:themeElements>
    <a:clrScheme name="Default">
      <a:dk1>
        <a:srgbClr val="000000"/>
      </a:dk1>
      <a:lt1>
        <a:sysClr val="window" lastClr="FFFFFF"/>
      </a:lt1>
      <a:dk2>
        <a:srgbClr val="3F3F3F"/>
      </a:dk2>
      <a:lt2>
        <a:srgbClr val="E7E6E6"/>
      </a:lt2>
      <a:accent1>
        <a:srgbClr val="7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0000"/>
      </a:accent5>
      <a:accent6>
        <a:srgbClr val="978869"/>
      </a:accent6>
      <a:hlink>
        <a:srgbClr val="FFC000"/>
      </a:hlink>
      <a:folHlink>
        <a:srgbClr val="7F7F7F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3585702_TF45182065_Win32" id="{FC56CF45-A983-4A55-B2CB-31E608060C9D}" vid="{7D51ACA5-8D5C-41FB-8135-7DA9E6C98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2E030B0A-71F8-413B-A4A2-A63F8B4912A5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abU/jOBD+K6t82S/lFOfdfIMCutUtHNpF3IcTWk3scZvdNKkcl5dF/e87Tlpa2hSqg7LAVUUqGU/seXme8TjprSOzapjDzQkM0Nl19svyxwD0jw/M6ThFI1PgulKiSEGELGReCDyg0XJosrKonN1bx4DuoTnPqhHkdiIS/nvRcSDPT6FnrxTkFXacIeqqLCDPfmKjTENGj3DccfB6mJca7JRfDRi0016SOl2TCewPn1YEYbJL/IrCNFLhB2ki/QBkpAR6McS+NaxqFGrLWlXs1PXy3bIwkBW0jJUxV3qCMTfhMaZBwAL6tnKV5Waikt4cXg81eUc+3wxtcLpka6/UmYDcqb3QWDVG3zp/ZqhBi/7NZ7zE3EoO28eXh051ScEyN+egsyYo5UgLXFZs5F9Q1UOFyQzNRpEjx6pvpjSQU/zHFOBJgu8mJGuni5D4CEUfar05o5wDcu7DTGCHJ644xxS6fi3pl1ddjaQpnV133LmLzJ68hEKQdDEse72exl5jxJI/3TIfDVrka/s551QtroVHo2ICGrZs8gVJqqzo5RNQzvBx1niSE0S6fdDGoj79TvCyYBhPAUkrfp+D3AQRNzVK/g8QuBhbKaKSAYsYjyCirKcYcrFlzztjj7tlz2bY46ok4EEYx6kK4iiWSeo+jT3PiYTKlBofROtLWZKD+Vbg1euwpSxW2PIoJeDnSOMxDO8zwk4US0o+9yAMkEuZplz6/qM4eD+1QoCWi2Wi1BL1flMQDjI97f68zoLdv9tZy2QicorcZwkjFivAwHUjDksJbErJrRODi5FMaNcUYSh8zw8iZuWTxrt1uNOO82Z+e/P5tGumCB3pclAHblK8LklzlZcdp0kCpanj/NNHory9k3pkmU2D+mkhhNVEZY3gTusv2bAQTzEt+WO78jnko/oAQRN/zsinBia1mJQ/Hh8efOruHR+enP390d5xUUd+k0Sfs+8+oOteckvH10zHNPIxETxJ4jQQnqs8N2Qr6cgBFEs5V6lUHoIn4tifo2Pr8G+l40lplmP4Sjm6ZemWpatY6vmcdk2PMRXTJ0TOvOgNdb/vB0rDrP2o9nbgtM6xchPoaI5xjDPq/dwU0EtFGLNIRTWQHwx61Qf6XjoKAHicCwxVIAIVSg4qWt1J+oJDkkQJshiEUFwhRnNbV+vwiq3r6Uw6LfWZhqKipUjbc73QZS7bqf9JfLaUS2vFmlV7+8DozRehlz+ptwJs++TqeZ5cxRyjOPEjaq9VjEHKQvBezd69silcI/tVnglq4edT7wxQ9+pMSDBQOzRsFsuwGS9lPYy1v+3N8QHdIcurwnbG0waoFVB3XfbGYjLJIIMwUgnE0o3ShIfC5U977/Wc1s7Q+Zzp62HR5GUpg7OD28sc4brlYEi8rBav/soK8tO3rFNm7aCuPsDN4vgl6/XNCnASrNFkA/xo9+odl++47Mx1d+u/GV7rNmsFA7CQB5PXtw+QYGGdZMdfWKezFpX20Vwh3mPSik6VLXaqm8Doyu5zQ0yertvQ2PfihGHE4xiVCuwT5Fi9GhrnkNq3++2l+A02MY+WnxT09iT13yEyhTRPIukHIbDElwmmATx+nDJ4bdLyevFAVU/YtheUI1MNQeApFNhW0K6HUEib9QdrUf0Ll7kK+QvPY2DiWSMAAA==&quot;"/>
    <we:property name="creatorSessionId" value="&quot;13cda05a-0f63-41b9-adc2-4d519ebe1071&quot;"/>
    <we:property name="creatorTenantId" value="&quot;899789dc-202f-44b4-8472-a6d40f9eb440&quot;"/>
    <we:property name="creatorUserId" value="&quot;10032003304053E2&quot;"/>
    <we:property name="datasetId" value="&quot;d5768634-aedd-4fb5-ab46-44cb32d82115&quot;"/>
    <we:property name="embedUrl" value="&quot;/reportEmbed?reportId=893621d2-40d0-4e2a-80d9-4e1ae2ab04fe&amp;groupId=2f870d50-7810-4203-913e-afe391ec1380&amp;w=2&amp;config=eyJjbHVzdGVyVXJsIjoiaHR0cHM6Ly9XQUJJLU5PUlRILUVVUk9QRS1L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S1PbSBD+KyldcvFuafQaDTcwUJtKTKhAsYcURbVmemwlQnKNZIND+b+nNbJ5WcbJZgEDhoOl7nFPP75+SOMrR6XlMIPJAZyjs+XsFMX3czDf3zGn4+Qz2ufPH3vbXz6eHWz39ohcDKu0yEtn68qpwPSxOknLEWS1BCJ+Pe04kGWH0K/vNGQldpwhmrLIIUt/YLOYWJUZ4bTj4OUwKwzUIo8qqLAWO6bldE97s7992hFklY7xCGXVUKUfJLHyA1CRluhx4H5Ay8pmgdWsdUkt2m7fLfIK0py2qWmcQRjpGLhyoyQWoXSFVUOnWTVbkkz2LoeGrCObJ8PaK13StV+YVELmWCsMlo3SV063yEbn9mrvDv2oGBmJX1BbVl6l1YQkjZGUKc+qooKMfDYlpxyaglxmufsoB2CJg+Kia5C2Vc6WOz0lSpnm/Wzm0RvjjhsFyyyVaOp4Jd/IMdaMc6R41RcKKrDWDJudUmz4hbJstMZeOZ9SckAj+wSyUS32/Q5WF4j5e9KJ/k5rzQqj0OxMrMDd1MzjxDr37H8Mv0xP5/gg5rdbCLAKl1anx9iXDCeG7/GYYSQ4R60DCAPkem2gk0FSZ1ZhJi346Vyrs63GkEui3tdlu9832Idqdvt4sbRkS9wf5TPwuP8B8gmY7gBMdQf0y/Hp3cfncxu8FMszxEz+dzTfgcgc0iKOqHKGwGJfxZgEENUSH/R8hZdVUlzedXwtjQuMeOxHgfQ0xyBhIXhrkyBy7tY1Kq+79A1VXNypr09Z3275pMEDgCeExFAHMtChEqAjWIhgMz5cOb4UEMdRjIyDlFpoRAue2SjRyu48VtgPC3NsIC9pK1rtuV7oMpf9ZS9iny0kZa3FfSSwmvB7CP0npaAaOZh8wjFmiypf8xdZc21OwKTNSGTN+4PIzua6a4HOkuHillLOLhn37oZQs2emOD0anAavo5t0nrzctALsF0pNRpNqa19b3SveAhabMsUEYzFzE0AvkSFnkY5Wt61yAPS50LQ8X6DwPcY0p/8QBfOitWlaJXXrNhi9wBRcifxh2g78zUC3Ch1NUiSRj7EUccwTGsBc7bkhW9q7BYBmiRA6UdpD8CTn/q3e3cpe0rsb+XZKmT/KU2z2TXFuDZ4VgjGtXGZWx2kg4NYu/HeAZFTjqlyl83AeFNWi0z7cc+RvTEjzAkeKPTAUdW4mr6/tI1xvb/dDd7u3d3D8uZ7iTk9nk9yzjLJLBpjXUyMkGPVy60NNchPqNtS8Ah5pwMB1I7F8wubgYqRiFjEZhtL3/CBit7K0lf2sWbqmCblJx006tqcjVxFXwqtf5gmlkkQo3185/W0CuA7GzuqpjgMRhJwnmkoqV3Hiyhc0vj/d6+HqLMeL9dClyJfoshKv8GNksAfDxcc4RK0C6oQigohSM8FQ/BkO3sLT9Ft4rNy8UPmVFyqu8iRjbiw4JkHAAvrcZM8ryx62yZ7HyB6bQG0HQ8WoKocg8RBybDkgImRAruo4PHhIZH9V4dhNKDJpkq06Vap/a3F9njSd/gRdEXJc9iEAAA==&quot;"/>
    <we:property name="isFiltersActionButtonVisible" value="true"/>
    <we:property name="isVisualContainerHeaderHidden" value="false"/>
    <we:property name="pageDisplayName" value="&quot;General&quot;"/>
    <we:property name="pageName" value="&quot;c34b8d34ad6fce27a734&quot;"/>
    <we:property name="pptInsertionSessionID" value="&quot;C68A8099-D310-42B9-A8A5-32B3F2DAE7C0&quot;"/>
    <we:property name="reportEmbeddedTime" value="&quot;2025-09-27T14:42:43.952Z&quot;"/>
    <we:property name="reportName" value="&quot;Dashboard_Farmacias&quot;"/>
    <we:property name="reportState" value="&quot;CONNECTED&quot;"/>
    <we:property name="reportUrl" value="&quot;/groups/2f870d50-7810-4203-913e-afe391ec1380/reports/893621d2-40d0-4e2a-80d9-4e1ae2ab04fe/c34b8d34ad6fce27a734?experience=power-bi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BF12102-81EA-481D-9F2D-6AADB99387CA}">
  <we:reference id="wa200003233" version="2.0.0.3" store="en-US" storeType="OMEX"/>
  <we:alternateReferences>
    <we:reference id="WA200003233" version="2.0.0.3" store="WA200003233" storeType="OMEX"/>
  </we:alternateReferences>
  <we:properties>
    <we:property name="pptInsertionSessionID" value="&quot;C68A8099-D310-42B9-A8A5-32B3F2DAE7C0&quot;"/>
    <we:property name="reportUrl" value="&quot;/groups/2f870d50-7810-4203-913e-afe391ec1380/reports/893621d2-40d0-4e2a-80d9-4e1ae2ab04fe/90e6627c897615ee25f5?experience=power-bi&quot;"/>
    <we:property name="reportName" value="&quot;Dashboard_Farmacias&quot;"/>
    <we:property name="reportState" value="&quot;CONNECTED&quot;"/>
    <we:property name="embedUrl" value="&quot;/reportEmbed?reportId=893621d2-40d0-4e2a-80d9-4e1ae2ab04fe&amp;groupId=2f870d50-7810-4203-913e-afe391ec1380&amp;w=2&amp;config=eyJjbHVzdGVyVXJsIjoiaHR0cHM6Ly9XQUJJLU5PUlRILUVVUk9QRS1LLVBSSU1BUlktcmVkaXJlY3QuYW5hbHlzaXMud2luZG93cy5uZXQiLCJlbWJlZEZlYXR1cmVzIjp7InVzYWdlTWV0cmljc1ZOZXh0Ijp0cnVlfX0%3D&amp;disableSensitivityBanner=true&amp;storytellingChangeViewModeShortcutKeys=true&quot;"/>
    <we:property name="pageName" value="&quot;90e6627c897615ee25f5&quot;"/>
    <we:property name="pageDisplayName" value="&quot;Individual&quot;"/>
    <we:property name="datasetId" value="&quot;d5768634-aedd-4fb5-ab46-44cb32d82115&quot;"/>
    <we:property name="backgroundColor" value="&quot;#FFFFFF&quot;"/>
    <we:property name="bookmark" value="&quot;H4sIAAAAAAAAA+1aW1PbOhD+Kx2/9CVzJvJV5g0CzOlMoZwDw3noZDoraZ24dSxXVgIpk/9+JNuBkBvQkhBaeCFZbVa73367Xim5cURaFhmMT2GAzp5zIOW3Aahv74jTcvJahlGbRUkUBhEPgjAWRHAwq7LQqcxLZ+/G0aB6qC/TcgiZNWSEn7stB7LsDHr2XQJZiS2nQFXKHLL0B9bKZkmrIU5aDl4XmVRgTZ5r0GjNjoy6eW9cIH95ZkfgOh3hOXJdS+M2hqEbcRpHIQkQ3SAJjFpZK1SeLVWxpqvtOzLXkOZmm0o3EW4oOBIOETIXQuFRK0/STDcqbHx0XSgTnYl5XFhwOsbXnlQph8ypolBY1k7fOH+nqEDx/vgjjjCzkqPl64tLZ0oasPT4ElRagyKHiuOiYi3/F5NqKdepNtYMciaw8ouWGjKD/8QA3CT41qDxdrqJER8j70OlN+OUc2iCe3cnsMtNKM6Jga5fSfryqqPQaApnrz1p3SKzL0aQcyOdh2W/11PYq51YiKcjs+FgifzRcc4EVYkr4fEwb0jTXnS5ayRlmveyhpR3/LioI+GVT50+KG15z74aglk6TKaUNHt+nSFdw4lxxZM/gQTdiZUKTiI/YdTjLvpx4AZuTN7q5zerH/IT9ZOZFvtWPQ9UDxFAuIDITZjnBwghqx1aWz0vzxEcmOf2GHGOJsE6Zq+r+Y359kTOMlBLKSuVQHVQk/MwVdNZxG3N+bsDCZh0H1NhG/KlJrWHwKnnU6QxBcNvxpOHSX0hi1MDe61jVS6nc6BB+VjJQaXcFGM5ZN+HaGKZT8D5dMG8/mf6Yp2lkR15VwXacmpetC2o55gZNB+P3rTx2C3mEDM041IYwG67S5JiJhy7zaetUW2Ng9+HUEOyMEZZF02qzCOhXeW6Bsi1df5kRP/ro8IG0Fyk01A+zDlePi/mVQTAMlz96Vt6Texfd7LJdnXn12sbCpYM1dvv9nza1XYbv0JJMTTd4z6C3vMeS3buKbWCNdt/RM0Uf31oiVjgMeQAkDA3ipG23Vcwdj3b0RaUeL3ksSKO1BdR5AduQiLkCVLxa7c2f2BPei42Fenyc97rYdS229EMQep+lBDkXHg+JISEwncTnvCdoXOppfqp01SZpdzM8rO0cAaoetXkJUBDFU1R75RivW7btPmPVbA3zsfUAFDbvoRsaM2+P4Ay5e+nw9mqG4VK/Qmz4xPRaI46QRxSYBgTgoJzj3H+a7dfW+pDL5a7Q/MJIa/yl0rfQukxX9A2+m6ELA5jTgNfsJ3J4N3t0o6k7wD1FeK97K1o82S+zW8Cl5Wte0Psme7bUIdQIiJwwzCMKbjC55G/mjrN92ohJMiJH4ch9Rn1SQARM3laSqzHXYaMduG8va7OWnfp+LycVidHhx86+ydHpxefLLW63Y0fu1f2RvJbzmivf+JPIIhZDNQNwBP2rhzr73TvFVtdEabD0ZC7fhBHPibMh6jtseqx3NTg0uUXrcFTqRcx3NHCfMHStE337Vy+w1XqRgmJObA4SNoJZXGU+J61vTZsjdeayev7kVtrsRdTDymhEYRtgkFAMd6Z2WzVsWj7d6AZ6C85Xu2GLzJf4cuD7IcfQ4UnUMzzoKLCsjlWDnVZAMczyHHJPGuChFzYzdfOtNWvlG7n2cnkf5P6j4QdJQAA&quot;"/>
    <we:property name="initialStateBookmark" value="&quot;H4sIAAAAAAAAA+1aW1PbOhD+Kx2/9CVzJvJV5g0CzOm0AU5hOA+dDLOS1olbx3ZlGUiZ/PdKtgMhN6AlIbTwQrLaaHe//Xa9UnJjibjIExgdwRCtHWsvy74NQX57R6yWlTay4+OP3d3PHy+OdrsHWpzlKs7Swtq5sRTIPqrzuCghMTto4Zdey4IkOYG+eRdBUmDLylEWWQpJ/ANrZb2kZInjloXXeZJJMFueKlBotr3U6vq9tk3+cbRF4Cq+xFPkqpaGbfR9O+A0DHziIdpe5Gm1olaoPFuoYrauzHeyVEGcajOVbiRsX3AkHAJkNvjCoUYexYlqVNjo4DqXOjod8yg3qHS0r/1MxhwSq4pCYlE7fWP9G6MEyQejT3iJiZEcLF6fXzqRmQZLjc5BxjUoWSk5zivW8s8YVUupipXeTSOnAysuVKYg0fiPNcBNZm831N5OjGjxIfIBVHpTTln7Orh3dwKz3IRidTV0g0oyyK46ErWmsHba49YtMrviElKupbOw7Pb7Evu1E3PxdLKkHC6QPzrOqaAqcSU8LNOGNO15l3taUsRpP2lIecePszoSXvnUGYBUhvfsqyaYocN4Qklt8+sU6RpOjCqe/A0k6I2NVHASuBGjDrfRDT3bs0PyVj9/WP2QX6ifRLfYt+p5oHqIAMIFBHbEHNdD8Fnt0MrqeXmO4FA/t0eIMzTxVjF7Vc2vzbcncpaBXEjZTAqUezU592M5mUXs1oy/W5CAce8xFbYmX2pSOwicOi5FGlLQ/GY8epjUZ1l+pGGvdYzK+WQO1CgfymxYKTfFWJTse4k6ltkEnE4W9Ov/Ji9W7XRpZt1lgbasmhdtA+opJhrNx6M3aTzGxAximmY8Exqw2+4SxZgIy5g53hjVVjj4vYQakrkxyrioU6UfCe0q1zVAtqnzJyP6/wAlNoCmIp6E8mHG8eJ5Ma8iAJbg8k/f0mts/nrjdbarO79e21CwYKjefLfnk6623fjlMhOl7h73EXSe91iydU+pJazZ/CNqqvjrQ0vAPIchB4CI2UGItG2/grHr2Y62IMXrJY8RcaSuCALXsyMSII+Qit+7tfkLe9JzsSmPF5/zXg+jNt2OpghS96OIIOfCcSEixBeuHfGIbw2dC5XJXzpNFUnM9Sw/TQtriLJfTV4CFFTR5LWlGOt106b1f6yCvbE+xRqAeu9zSEqz7fs9KGL+fjKcLbtRqNSfMDs+EY3mqOOFPgWGISEoOHcY5793+7WhPvRiudvXnxDZVfpS6ZsrPeYK2kbXDpCFfsip5wq2NRm8u13akvTtobpCvJe9JW2ezLb5deCytHWviT0Tuw11CCUiANv3/ZCCLVweuMup03yh5kOEnLih71OXUZd4EDCdp4XEetxlyOU2nLdX1VnrLh1fFtOqe7D/obPbPTg6OzbU6vXWfuxe2hvJHzmjvf6JPwIvZCFQ2wNHmLtyrL/TvVdsdUXoDkd9brteGLgYMReCtsOqx3JTgwuXX7QGjzI1j+GWFuYLlqZpum/n8i2uUjuISMiBhV7UjigLg8h1zN4rw1Z4rVh2fT9ys1vohNRBSmgAfpug51EMt2Y2W3Ys2vwdaALqIsWr7fAlS5f48iD74UcpsQv5LA8qKiyaY7NSFTlwPIEUF8yzOkhIhTG+cqatfqVkVUa0O3HzxcCKD5jfLt3Ov+PxT1ZBoNJGJQAA&quot;"/>
    <we:property name="isFiltersActionButtonVisible" value="true"/>
    <we:property name="isVisualContainerHeaderHidden" value="false"/>
    <we:property name="reportEmbeddedTime" value="&quot;2025-09-27T14:44:12.025Z&quot;"/>
    <we:property name="creatorTenantId" value="&quot;899789dc-202f-44b4-8472-a6d40f9eb440&quot;"/>
    <we:property name="creatorUserId" value="&quot;10032003304053E2&quot;"/>
    <we:property name="creatorSessionId" value="&quot;cccf8708-f56a-44ae-8be8-b9bffa880c66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 Theme</vt:lpstr>
      <vt:lpstr>Citable</vt:lpstr>
      <vt:lpstr>Creación y Preparación de un Marco de Trabajo para PYMES en Análisis de Datos</vt:lpstr>
      <vt:lpstr>INTRODUCCION</vt:lpstr>
      <vt:lpstr>Resumen ejecutivo</vt:lpstr>
      <vt:lpstr>Procesos ETL y EDA</vt:lpstr>
      <vt:lpstr>MODELOS SELECCIONADOS</vt:lpstr>
      <vt:lpstr>Tipos de modelos </vt:lpstr>
      <vt:lpstr>Técnicas utilizadas </vt:lpstr>
      <vt:lpstr>Justificación de modelos</vt:lpstr>
      <vt:lpstr>Validación de modelos</vt:lpstr>
      <vt:lpstr>VISUALIZACION DE DATOS</vt:lpstr>
      <vt:lpstr>PowerPoint Presentation</vt:lpstr>
      <vt:lpstr>PowerPoint Presentation</vt:lpstr>
      <vt:lpstr>Conclusion, Resultados y Logros</vt:lpstr>
      <vt:lpstr>Reflexiones Finales y Aprendizaje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Calderon</dc:creator>
  <cp:revision>3</cp:revision>
  <dcterms:created xsi:type="dcterms:W3CDTF">2025-09-27T14:42:09Z</dcterms:created>
  <dcterms:modified xsi:type="dcterms:W3CDTF">2025-09-28T03:46:25Z</dcterms:modified>
</cp:coreProperties>
</file>